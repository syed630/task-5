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6" r:id="rId10"/>
    <p:sldId id="265" r:id="rId11"/>
    <p:sldId id="267" r:id="rId12"/>
    <p:sldId id="274" r:id="rId13"/>
    <p:sldId id="275" r:id="rId14"/>
    <p:sldId id="268"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0AB48-1D53-42EB-8A1D-D56D6361B7F6}" v="587" dt="2026-04-21T11:43:36.204"/>
    <p1510:client id="{83FAF6AF-530C-4C85-9C72-843528FC3EF3}" v="2124" dt="2026-04-21T10:01:21.6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A04745F1-363A-EB11-26A0-C8A8813F5A28}"/>
              </a:ext>
            </a:extLst>
          </p:cNvPr>
          <p:cNvSpPr txBox="1"/>
          <p:nvPr/>
        </p:nvSpPr>
        <p:spPr>
          <a:xfrm>
            <a:off x="1279493" y="1759820"/>
            <a:ext cx="8273380" cy="332939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000" b="1"/>
              <a:t>PROJECT REPORT</a:t>
            </a:r>
            <a:endParaRPr lang="en-US" sz="2000" b="1" dirty="0"/>
          </a:p>
          <a:p>
            <a:pPr>
              <a:lnSpc>
                <a:spcPct val="90000"/>
              </a:lnSpc>
              <a:spcAft>
                <a:spcPts val="600"/>
              </a:spcAft>
            </a:pPr>
            <a:endParaRPr lang="en-US" sz="2000" b="1" dirty="0"/>
          </a:p>
          <a:p>
            <a:pPr>
              <a:lnSpc>
                <a:spcPct val="90000"/>
              </a:lnSpc>
              <a:spcAft>
                <a:spcPts val="600"/>
              </a:spcAft>
            </a:pPr>
            <a:r>
              <a:rPr lang="en-US" sz="2000" b="1" dirty="0"/>
              <a:t>Web Application Penetration Testing </a:t>
            </a:r>
            <a:r>
              <a:rPr lang="en-US" sz="2000" b="1"/>
              <a:t>Using DVWA</a:t>
            </a:r>
            <a:endParaRPr lang="en-US" sz="2000" b="1" dirty="0"/>
          </a:p>
          <a:p>
            <a:pPr>
              <a:lnSpc>
                <a:spcPct val="90000"/>
              </a:lnSpc>
              <a:spcAft>
                <a:spcPts val="600"/>
              </a:spcAft>
            </a:pPr>
            <a:r>
              <a:rPr lang="en-US" sz="2000" b="1" dirty="0"/>
              <a:t>Submitted By: Syed </a:t>
            </a:r>
            <a:r>
              <a:rPr lang="en-US" sz="2000" b="1" dirty="0" err="1"/>
              <a:t>Suffiyan</a:t>
            </a:r>
            <a:endParaRPr lang="en-US" sz="2000" b="1" dirty="0"/>
          </a:p>
          <a:p>
            <a:pPr>
              <a:lnSpc>
                <a:spcPct val="90000"/>
              </a:lnSpc>
              <a:spcAft>
                <a:spcPts val="600"/>
              </a:spcAft>
            </a:pPr>
            <a:r>
              <a:rPr lang="en-US" sz="2000" b="1" dirty="0"/>
              <a:t>BCA, </a:t>
            </a:r>
            <a:r>
              <a:rPr lang="en-US" sz="2000" b="1" dirty="0" err="1"/>
              <a:t>Yenepoya</a:t>
            </a:r>
            <a:r>
              <a:rPr lang="en-US" sz="2000" b="1" dirty="0"/>
              <a:t> Institute Of Arts, Science, and Management</a:t>
            </a:r>
          </a:p>
          <a:p>
            <a:pPr>
              <a:lnSpc>
                <a:spcPct val="90000"/>
              </a:lnSpc>
              <a:spcAft>
                <a:spcPts val="600"/>
              </a:spcAft>
            </a:pPr>
            <a:r>
              <a:rPr lang="en-US" sz="2000" b="1" dirty="0"/>
              <a:t>Internship: Cybersecurity Internsh</a:t>
            </a:r>
            <a:r>
              <a:rPr lang="en-US" sz="2000" b="1"/>
              <a:t>ip at Apex Planet</a:t>
            </a:r>
            <a:endParaRPr lang="en-US" sz="2000" b="1" dirty="0"/>
          </a:p>
          <a:p>
            <a:pPr>
              <a:lnSpc>
                <a:spcPct val="90000"/>
              </a:lnSpc>
              <a:spcAft>
                <a:spcPts val="600"/>
              </a:spcAft>
            </a:pPr>
            <a:r>
              <a:rPr lang="en-US" sz="2000" b="1"/>
              <a:t>Date: 21 April 2026</a:t>
            </a:r>
            <a:endParaRPr lang="en-US" sz="2000" b="1" dirty="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734004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4DB333-FF03-282F-75BF-9082517DA34A}"/>
              </a:ext>
            </a:extLst>
          </p:cNvPr>
          <p:cNvSpPr txBox="1"/>
          <p:nvPr/>
        </p:nvSpPr>
        <p:spPr>
          <a:xfrm>
            <a:off x="939451" y="555456"/>
            <a:ext cx="5782848" cy="5539978"/>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r>
              <a:rPr lang="en-US" sz="2800" b="1">
                <a:latin typeface="Times New Roman"/>
                <a:cs typeface="Times New Roman"/>
              </a:rPr>
              <a:t>Table of Contents :</a:t>
            </a:r>
            <a:endParaRPr lang="en-US" sz="2800">
              <a:latin typeface="Times New Roman"/>
              <a:cs typeface="Times New Roman"/>
            </a:endParaRPr>
          </a:p>
          <a:p>
            <a:endParaRPr lang="en-US" sz="2800" b="1" dirty="0">
              <a:latin typeface="Times New Roman"/>
              <a:cs typeface="Times New Roman"/>
            </a:endParaRPr>
          </a:p>
          <a:p>
            <a:r>
              <a:rPr lang="en-US" dirty="0">
                <a:latin typeface="Times New Roman"/>
                <a:cs typeface="Times New Roman"/>
              </a:rPr>
              <a:t>      </a:t>
            </a:r>
            <a:r>
              <a:rPr lang="en-US" sz="2000" dirty="0">
                <a:latin typeface="Times New Roman"/>
                <a:cs typeface="Times New Roman"/>
              </a:rPr>
              <a:t>1. </a:t>
            </a:r>
            <a:r>
              <a:rPr lang="en-US" sz="2000">
                <a:latin typeface="Times New Roman"/>
                <a:cs typeface="Times New Roman"/>
              </a:rPr>
              <a:t>Abstract</a:t>
            </a:r>
          </a:p>
          <a:p>
            <a:r>
              <a:rPr lang="en-US" sz="2000">
                <a:latin typeface="Times New Roman"/>
                <a:cs typeface="Times New Roman"/>
              </a:rPr>
              <a:t>       2. Introduction</a:t>
            </a:r>
            <a:endParaRPr lang="en-US" sz="2000" dirty="0">
              <a:latin typeface="Times New Roman"/>
              <a:cs typeface="Times New Roman"/>
            </a:endParaRPr>
          </a:p>
          <a:p>
            <a:r>
              <a:rPr lang="en-US" sz="2000" dirty="0">
                <a:latin typeface="Times New Roman"/>
                <a:cs typeface="Times New Roman"/>
              </a:rPr>
              <a:t>       3. Tools and </a:t>
            </a:r>
            <a:r>
              <a:rPr lang="en-US" sz="2000">
                <a:latin typeface="Times New Roman"/>
                <a:cs typeface="Times New Roman"/>
              </a:rPr>
              <a:t>Environment</a:t>
            </a:r>
            <a:endParaRPr lang="en-US" sz="2000" dirty="0">
              <a:latin typeface="Times New Roman"/>
              <a:cs typeface="Times New Roman"/>
            </a:endParaRPr>
          </a:p>
          <a:p>
            <a:r>
              <a:rPr lang="en-US" sz="2000" dirty="0">
                <a:latin typeface="Times New Roman"/>
                <a:cs typeface="Times New Roman"/>
              </a:rPr>
              <a:t>       4. </a:t>
            </a:r>
            <a:r>
              <a:rPr lang="en-US" sz="2000">
                <a:latin typeface="Times New Roman"/>
                <a:cs typeface="Times New Roman"/>
              </a:rPr>
              <a:t>Methodology </a:t>
            </a:r>
          </a:p>
          <a:p>
            <a:pPr algn="ctr"/>
            <a:r>
              <a:rPr lang="en-US" sz="2000">
                <a:latin typeface="Times New Roman"/>
                <a:cs typeface="Times New Roman"/>
              </a:rPr>
              <a:t>                    4.1 Reconnaissance &amp;Network Scanning </a:t>
            </a:r>
            <a:endParaRPr lang="en-US"/>
          </a:p>
          <a:p>
            <a:r>
              <a:rPr lang="en-US" sz="2000">
                <a:latin typeface="Times New Roman"/>
                <a:cs typeface="Times New Roman"/>
              </a:rPr>
              <a:t>           4.2 SQL Injection (SQLi) </a:t>
            </a:r>
          </a:p>
          <a:p>
            <a:r>
              <a:rPr lang="en-US" sz="2000">
                <a:latin typeface="Times New Roman"/>
                <a:cs typeface="Times New Roman"/>
              </a:rPr>
              <a:t>           4.3 Brute Force Attack </a:t>
            </a:r>
          </a:p>
          <a:p>
            <a:r>
              <a:rPr lang="en-US" sz="2000">
                <a:latin typeface="Times New Roman"/>
                <a:cs typeface="Times New Roman"/>
              </a:rPr>
              <a:t>           4.4 Cross-Site Scripting (XSS)</a:t>
            </a:r>
          </a:p>
          <a:p>
            <a:r>
              <a:rPr lang="en-US" sz="2000">
                <a:latin typeface="Times New Roman"/>
                <a:cs typeface="Times New Roman"/>
              </a:rPr>
              <a:t>       5. Results and Findings </a:t>
            </a:r>
          </a:p>
          <a:p>
            <a:r>
              <a:rPr lang="en-US" sz="2000">
                <a:latin typeface="Times New Roman"/>
                <a:cs typeface="Times New Roman"/>
              </a:rPr>
              <a:t>       6. Screenshots / Evidence</a:t>
            </a:r>
            <a:endParaRPr lang="en-US" sz="2000" dirty="0">
              <a:latin typeface="Times New Roman"/>
              <a:cs typeface="Times New Roman"/>
            </a:endParaRPr>
          </a:p>
          <a:p>
            <a:r>
              <a:rPr lang="en-US" sz="2000" dirty="0">
                <a:latin typeface="Times New Roman"/>
                <a:cs typeface="Times New Roman"/>
              </a:rPr>
              <a:t>       7. </a:t>
            </a:r>
            <a:r>
              <a:rPr lang="en-US" sz="2000">
                <a:latin typeface="Times New Roman"/>
                <a:cs typeface="Times New Roman"/>
              </a:rPr>
              <a:t>Mitigation Techniques</a:t>
            </a:r>
          </a:p>
          <a:p>
            <a:r>
              <a:rPr lang="en-US" sz="2000">
                <a:latin typeface="Times New Roman"/>
                <a:cs typeface="Times New Roman"/>
              </a:rPr>
              <a:t>       8. Incident Response </a:t>
            </a:r>
            <a:endParaRPr lang="en-US" sz="2000" dirty="0">
              <a:latin typeface="Times New Roman"/>
              <a:cs typeface="Times New Roman"/>
            </a:endParaRPr>
          </a:p>
          <a:p>
            <a:r>
              <a:rPr lang="en-US" sz="2000" dirty="0">
                <a:latin typeface="Times New Roman"/>
                <a:cs typeface="Times New Roman"/>
              </a:rPr>
              <a:t>       9. </a:t>
            </a:r>
            <a:r>
              <a:rPr lang="en-US" sz="2000">
                <a:latin typeface="Times New Roman"/>
                <a:cs typeface="Times New Roman"/>
              </a:rPr>
              <a:t>Conclusion</a:t>
            </a:r>
          </a:p>
          <a:p>
            <a:r>
              <a:rPr lang="en-US" sz="2000">
                <a:latin typeface="Times New Roman"/>
                <a:cs typeface="Times New Roman"/>
              </a:rPr>
              <a:t>      10. References</a:t>
            </a:r>
          </a:p>
          <a:p>
            <a:pPr algn="ctr"/>
            <a:endParaRPr lang="en-US"/>
          </a:p>
        </p:txBody>
      </p:sp>
    </p:spTree>
    <p:extLst>
      <p:ext uri="{BB962C8B-B14F-4D97-AF65-F5344CB8AC3E}">
        <p14:creationId xmlns:p14="http://schemas.microsoft.com/office/powerpoint/2010/main" val="542350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14F61A-F87E-4A39-840F-F19E3767F026}"/>
              </a:ext>
            </a:extLst>
          </p:cNvPr>
          <p:cNvSpPr txBox="1"/>
          <p:nvPr/>
        </p:nvSpPr>
        <p:spPr>
          <a:xfrm>
            <a:off x="1075152" y="923795"/>
            <a:ext cx="10031259" cy="33009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b="1">
                <a:latin typeface="Times New Roman"/>
                <a:cs typeface="Times New Roman"/>
              </a:rPr>
              <a:t>Abstract</a:t>
            </a:r>
            <a:endParaRPr lang="en-US"/>
          </a:p>
          <a:p>
            <a:endParaRPr lang="en-US" dirty="0">
              <a:latin typeface="Times New Roman"/>
              <a:cs typeface="Times New Roman"/>
            </a:endParaRPr>
          </a:p>
          <a:p>
            <a:r>
              <a:rPr lang="en-US" sz="2000" dirty="0">
                <a:latin typeface="Times New Roman"/>
                <a:cs typeface="Times New Roman"/>
              </a:rPr>
              <a:t>This project, titled “Web Application Penetration Testing using DVWA,” focuses on gaining practical experience in identifying and exploiting common web application vulnerabilities within a controlled environment. A deliberately vulnerable platform, DVWA, was utilized to simulate real-world cyberattack scenarios, with all testing conducted in a secure Kali Linux environment. </a:t>
            </a:r>
          </a:p>
          <a:p>
            <a:endParaRPr lang="en-US" sz="2000" dirty="0">
              <a:latin typeface="Times New Roman"/>
              <a:cs typeface="Times New Roman"/>
            </a:endParaRPr>
          </a:p>
          <a:p>
            <a:r>
              <a:rPr lang="en-US" sz="2000">
                <a:latin typeface="Times New Roman"/>
                <a:cs typeface="Times New Roman"/>
              </a:rPr>
              <a:t>The </a:t>
            </a:r>
            <a:r>
              <a:rPr lang="en-US" sz="2000" dirty="0">
                <a:latin typeface="Times New Roman"/>
                <a:cs typeface="Times New Roman"/>
              </a:rPr>
              <a:t>assessment included key attack vectors such as reconnaissance, SQL Injection (SQLi), Brute Force attacks, and Cross-Site Scripting (XSS), enabling a comprehensive understanding of potential security risks. Additionally, the project examined the application from an incident response perspective, highlighting detection techniques and recommending mitigation strategies, including parameterized queries and effective input validation. </a:t>
            </a:r>
          </a:p>
          <a:p>
            <a:endParaRPr lang="en-US" sz="2000" dirty="0">
              <a:latin typeface="Times New Roman"/>
              <a:cs typeface="Times New Roman"/>
            </a:endParaRPr>
          </a:p>
          <a:p>
            <a:r>
              <a:rPr lang="en-US" sz="2000">
                <a:latin typeface="Times New Roman"/>
                <a:cs typeface="Times New Roman"/>
              </a:rPr>
              <a:t>Overall, this project bridges the gap between </a:t>
            </a:r>
            <a:r>
              <a:rPr lang="en-US" sz="2000" dirty="0">
                <a:latin typeface="Times New Roman"/>
                <a:cs typeface="Times New Roman"/>
              </a:rPr>
              <a:t>offensive penetration testing and defensive security practices, providing a well-rounded understanding of web application security.</a:t>
            </a:r>
          </a:p>
          <a:p>
            <a:pPr algn="ctr"/>
            <a:endParaRPr lang="en-US" dirty="0">
              <a:latin typeface="Times New Roman"/>
              <a:cs typeface="Times New Roman"/>
            </a:endParaRPr>
          </a:p>
        </p:txBody>
      </p:sp>
    </p:spTree>
    <p:extLst>
      <p:ext uri="{BB962C8B-B14F-4D97-AF65-F5344CB8AC3E}">
        <p14:creationId xmlns:p14="http://schemas.microsoft.com/office/powerpoint/2010/main" val="398750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D11039-0979-A7D6-094E-00D4E55D5AEF}"/>
              </a:ext>
            </a:extLst>
          </p:cNvPr>
          <p:cNvSpPr txBox="1"/>
          <p:nvPr/>
        </p:nvSpPr>
        <p:spPr>
          <a:xfrm>
            <a:off x="960329" y="1069932"/>
            <a:ext cx="10271342" cy="30700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Introduction</a:t>
            </a:r>
          </a:p>
          <a:p>
            <a:endParaRPr lang="en-US" dirty="0">
              <a:latin typeface="Times New Roman"/>
              <a:cs typeface="Times New Roman"/>
            </a:endParaRPr>
          </a:p>
          <a:p>
            <a:r>
              <a:rPr lang="en-US" sz="2000" dirty="0">
                <a:latin typeface="Times New Roman"/>
                <a:cs typeface="Times New Roman"/>
              </a:rPr>
              <a:t>With the rapid expansion of digital infrastructure, web applications have become the primary gateway to sensitive corporate and user data, making them prime targets for cyber threat actors. Understanding how these applications are compromised is a fundamental requirement for building secure and resilient systems. </a:t>
            </a:r>
          </a:p>
          <a:p>
            <a:endParaRPr lang="en-US" sz="2000" dirty="0">
              <a:latin typeface="Times New Roman"/>
              <a:cs typeface="Times New Roman"/>
            </a:endParaRPr>
          </a:p>
          <a:p>
            <a:r>
              <a:rPr lang="en-US" sz="2000" dirty="0">
                <a:latin typeface="Times New Roman"/>
                <a:cs typeface="Times New Roman"/>
              </a:rPr>
              <a:t>The primary objective of this project is to simulate real-world cyberattacks in a safe, legal, and controlled laboratory environment. This approach enables the analysis of common vulnerabilities consistently identified in the OWASP Top 10 (Open Web Application Security Project).</a:t>
            </a:r>
            <a:endParaRPr lang="en-US" dirty="0">
              <a:latin typeface="Aptos" panose="020B0004020202020204"/>
              <a:cs typeface="Times New Roman"/>
            </a:endParaRPr>
          </a:p>
          <a:p>
            <a:endParaRPr lang="en-US" sz="2000" dirty="0">
              <a:latin typeface="Times New Roman"/>
              <a:cs typeface="Times New Roman"/>
            </a:endParaRPr>
          </a:p>
          <a:p>
            <a:r>
              <a:rPr lang="en-US" sz="2000" dirty="0">
                <a:latin typeface="Times New Roman"/>
                <a:cs typeface="Times New Roman"/>
              </a:rPr>
              <a:t>By actively exploiting these vulnerabilities, the project provides valuable insight into attacker methodologies, enhancing the ability to detect, prevent, and respond to potential security threats in real-world production environments</a:t>
            </a:r>
            <a:r>
              <a:rPr lang="en-US" dirty="0">
                <a:latin typeface="Times New Roman"/>
                <a:cs typeface="Times New Roman"/>
              </a:rPr>
              <a:t>.</a:t>
            </a:r>
            <a:endParaRPr lang="en-US"/>
          </a:p>
          <a:p>
            <a:pPr algn="ctr"/>
            <a:endParaRPr lang="en-US"/>
          </a:p>
        </p:txBody>
      </p:sp>
    </p:spTree>
    <p:extLst>
      <p:ext uri="{BB962C8B-B14F-4D97-AF65-F5344CB8AC3E}">
        <p14:creationId xmlns:p14="http://schemas.microsoft.com/office/powerpoint/2010/main" val="2607865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93DF1-FB99-50C4-05DD-94451AF90DC0}"/>
              </a:ext>
            </a:extLst>
          </p:cNvPr>
          <p:cNvSpPr txBox="1"/>
          <p:nvPr/>
        </p:nvSpPr>
        <p:spPr>
          <a:xfrm>
            <a:off x="939453" y="1038616"/>
            <a:ext cx="10313094" cy="3347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Times New Roman"/>
                <a:cs typeface="Times New Roman"/>
              </a:rPr>
              <a:t>3. Tools and Environment </a:t>
            </a:r>
          </a:p>
          <a:p>
            <a:endParaRPr lang="en-US" dirty="0"/>
          </a:p>
          <a:p>
            <a:r>
              <a:rPr lang="en-US" sz="2000" dirty="0">
                <a:latin typeface="Times New Roman"/>
                <a:cs typeface="Times New Roman"/>
              </a:rPr>
              <a:t>To maintain a secure, isolated, and legally compliant testing environment, this project was conducted using virtualized systems configured on a host-only network. </a:t>
            </a:r>
          </a:p>
          <a:p>
            <a:endParaRPr lang="en-US" sz="2000" dirty="0">
              <a:latin typeface="Times New Roman"/>
              <a:cs typeface="Times New Roman"/>
            </a:endParaRPr>
          </a:p>
          <a:p>
            <a:r>
              <a:rPr lang="en-US" sz="2000" dirty="0">
                <a:latin typeface="Times New Roman"/>
                <a:cs typeface="Times New Roman"/>
              </a:rPr>
              <a:t>The following tools and platforms were utilized: </a:t>
            </a:r>
          </a:p>
          <a:p>
            <a:r>
              <a:rPr lang="en-US" sz="2000" b="1">
                <a:latin typeface="Times New Roman"/>
                <a:cs typeface="Times New Roman"/>
              </a:rPr>
              <a:t>1.Attacker Machine: Kali Linux</a:t>
            </a:r>
            <a:r>
              <a:rPr lang="en-US" sz="2000" dirty="0">
                <a:latin typeface="Times New Roman"/>
                <a:cs typeface="Times New Roman"/>
              </a:rPr>
              <a:t> – A Debian-based distribution designed for digital forensics and penetration testing, featuring a comprehensive suite of security tools. </a:t>
            </a:r>
          </a:p>
          <a:p>
            <a:r>
              <a:rPr lang="en-US" sz="2000" b="1">
                <a:latin typeface="Times New Roman"/>
                <a:cs typeface="Times New Roman"/>
              </a:rPr>
              <a:t>2.Target Application:</a:t>
            </a:r>
            <a:r>
              <a:rPr lang="en-US" sz="2000">
                <a:latin typeface="Times New Roman"/>
                <a:cs typeface="Times New Roman"/>
              </a:rPr>
              <a:t> DVWA (Damn Vulnerable Web Application) – A PHP/MySQL-based web </a:t>
            </a:r>
            <a:r>
              <a:rPr lang="en-US" sz="2000" dirty="0">
                <a:latin typeface="Times New Roman"/>
                <a:cs typeface="Times New Roman"/>
              </a:rPr>
              <a:t>application intentionally designed with vulnerabilities for ethical security testing. </a:t>
            </a:r>
          </a:p>
          <a:p>
            <a:r>
              <a:rPr lang="en-US" sz="2000" b="1" dirty="0">
                <a:latin typeface="Times New Roman"/>
                <a:cs typeface="Times New Roman"/>
              </a:rPr>
              <a:t>3.Network Scanning Tool:</a:t>
            </a:r>
            <a:r>
              <a:rPr lang="en-US" sz="2000" dirty="0">
                <a:latin typeface="Times New Roman"/>
                <a:cs typeface="Times New Roman"/>
              </a:rPr>
              <a:t> Nmap – Used for network discovery and vulnerability assessment. </a:t>
            </a:r>
            <a:r>
              <a:rPr lang="en-US" sz="2000" b="1" dirty="0">
                <a:latin typeface="Times New Roman"/>
                <a:cs typeface="Times New Roman"/>
              </a:rPr>
              <a:t>4.Password Cracking Tool:</a:t>
            </a:r>
            <a:r>
              <a:rPr lang="en-US" sz="2000" dirty="0">
                <a:latin typeface="Times New Roman"/>
                <a:cs typeface="Times New Roman"/>
              </a:rPr>
              <a:t> THC Hydra – A high-speed tool for performing automated brute-force attacks on login credentials. Web Testing Tools: Mozilla Firefox (configured with </a:t>
            </a:r>
            <a:r>
              <a:rPr lang="en-US" sz="2000" dirty="0" err="1">
                <a:latin typeface="Times New Roman"/>
                <a:cs typeface="Times New Roman"/>
              </a:rPr>
              <a:t>FoxyProxy</a:t>
            </a:r>
            <a:r>
              <a:rPr lang="en-US" sz="2000" dirty="0">
                <a:latin typeface="Times New Roman"/>
                <a:cs typeface="Times New Roman"/>
              </a:rPr>
              <a:t>) and Burp Suite Community Edition – Used for intercepting, analyzing, and modifying web traffic.</a:t>
            </a:r>
            <a:endParaRPr lang="en-US" sz="2000">
              <a:latin typeface="Times New Roman"/>
              <a:cs typeface="Times New Roman"/>
            </a:endParaRPr>
          </a:p>
          <a:p>
            <a:pPr algn="ctr"/>
            <a:endParaRPr lang="en-US"/>
          </a:p>
        </p:txBody>
      </p:sp>
    </p:spTree>
    <p:extLst>
      <p:ext uri="{BB962C8B-B14F-4D97-AF65-F5344CB8AC3E}">
        <p14:creationId xmlns:p14="http://schemas.microsoft.com/office/powerpoint/2010/main" val="2077951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D17F6D-FA8B-6B98-4904-1BA7A711610C}"/>
              </a:ext>
            </a:extLst>
          </p:cNvPr>
          <p:cNvSpPr txBox="1"/>
          <p:nvPr/>
        </p:nvSpPr>
        <p:spPr>
          <a:xfrm>
            <a:off x="688933" y="287055"/>
            <a:ext cx="10803697" cy="40164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4. Methodology</a:t>
            </a:r>
          </a:p>
          <a:p>
            <a:endParaRPr lang="en-US" dirty="0"/>
          </a:p>
          <a:p>
            <a:r>
              <a:rPr lang="en-US" sz="2000">
                <a:latin typeface="Times New Roman"/>
                <a:cs typeface="Times New Roman"/>
              </a:rPr>
              <a:t>The testing followed a structured penetration testing approach, starting from reconnaissance to exploitation. </a:t>
            </a:r>
          </a:p>
          <a:p>
            <a:endParaRPr lang="en-US" sz="2000" dirty="0">
              <a:latin typeface="Times New Roman"/>
              <a:cs typeface="Times New Roman"/>
            </a:endParaRPr>
          </a:p>
          <a:p>
            <a:r>
              <a:rPr lang="en-US" sz="2000" b="1">
                <a:latin typeface="Times New Roman"/>
                <a:cs typeface="Times New Roman"/>
              </a:rPr>
              <a:t>4.1 Reconnaissance &amp; Network Scanning </a:t>
            </a:r>
            <a:endParaRPr lang="en-US" sz="2000" b="1" dirty="0">
              <a:latin typeface="Times New Roman"/>
              <a:cs typeface="Times New Roman"/>
            </a:endParaRPr>
          </a:p>
          <a:p>
            <a:pPr marL="285750" indent="-285750">
              <a:buFont typeface="Arial"/>
              <a:buChar char="•"/>
            </a:pPr>
            <a:r>
              <a:rPr lang="en-US" sz="2000" dirty="0">
                <a:latin typeface="Times New Roman"/>
                <a:cs typeface="Times New Roman"/>
              </a:rPr>
              <a:t>Purpose: Identify active services and entry points. The</a:t>
            </a:r>
            <a:r>
              <a:rPr lang="en-US" sz="2000" dirty="0">
                <a:latin typeface="Times New Roman"/>
                <a:ea typeface="+mn-lt"/>
                <a:cs typeface="Times New Roman"/>
              </a:rPr>
              <a:t> command </a:t>
            </a:r>
            <a:r>
              <a:rPr lang="en-US" sz="2000" dirty="0" err="1">
                <a:latin typeface="Times New Roman"/>
                <a:ea typeface="+mn-lt"/>
                <a:cs typeface="Times New Roman"/>
              </a:rPr>
              <a:t>nmap</a:t>
            </a:r>
            <a:r>
              <a:rPr lang="en-US" sz="2000" dirty="0">
                <a:latin typeface="Times New Roman"/>
                <a:ea typeface="+mn-lt"/>
                <a:cs typeface="Times New Roman"/>
              </a:rPr>
              <a:t> -</a:t>
            </a:r>
            <a:r>
              <a:rPr lang="en-US" sz="2000" dirty="0" err="1">
                <a:latin typeface="Times New Roman"/>
                <a:ea typeface="+mn-lt"/>
                <a:cs typeface="Times New Roman"/>
              </a:rPr>
              <a:t>sC</a:t>
            </a:r>
            <a:r>
              <a:rPr lang="en-US" sz="2000" dirty="0">
                <a:latin typeface="Times New Roman"/>
                <a:ea typeface="+mn-lt"/>
                <a:cs typeface="Times New Roman"/>
              </a:rPr>
              <a:t> -</a:t>
            </a:r>
            <a:r>
              <a:rPr lang="en-US" sz="2000" dirty="0" err="1">
                <a:latin typeface="Times New Roman"/>
                <a:ea typeface="+mn-lt"/>
                <a:cs typeface="Times New Roman"/>
              </a:rPr>
              <a:t>sV</a:t>
            </a:r>
            <a:r>
              <a:rPr lang="en-US" sz="2000" dirty="0">
                <a:latin typeface="Times New Roman"/>
                <a:ea typeface="+mn-lt"/>
                <a:cs typeface="Times New Roman"/>
              </a:rPr>
              <a:t> &lt;</a:t>
            </a:r>
            <a:r>
              <a:rPr lang="en-US" sz="2000" dirty="0" err="1">
                <a:latin typeface="Times New Roman"/>
                <a:ea typeface="+mn-lt"/>
                <a:cs typeface="Times New Roman"/>
              </a:rPr>
              <a:t>target_IP</a:t>
            </a:r>
            <a:r>
              <a:rPr lang="en-US" sz="2000" dirty="0">
                <a:latin typeface="Times New Roman"/>
                <a:ea typeface="+mn-lt"/>
                <a:cs typeface="Times New Roman"/>
              </a:rPr>
              <a:t>&gt; was utilized to run default scripts and determine service/version information.</a:t>
            </a:r>
          </a:p>
          <a:p>
            <a:pPr marL="285750" indent="-285750">
              <a:buFont typeface="Arial"/>
              <a:buChar char="•"/>
            </a:pPr>
            <a:r>
              <a:rPr lang="en-US" sz="2000" dirty="0">
                <a:latin typeface="Times New Roman"/>
                <a:cs typeface="Times New Roman"/>
              </a:rPr>
              <a:t>Tool Used: Nmap Key Finding: Open ports 80 (HTTP) and 3306 (MySQL) confirmed the presence of </a:t>
            </a:r>
            <a:r>
              <a:rPr lang="en-US" sz="2000">
                <a:latin typeface="Times New Roman"/>
                <a:cs typeface="Times New Roman"/>
              </a:rPr>
              <a:t>a web</a:t>
            </a:r>
            <a:r>
              <a:rPr lang="en-US" sz="2000" dirty="0">
                <a:latin typeface="Times New Roman"/>
                <a:cs typeface="Times New Roman"/>
              </a:rPr>
              <a:t> application and database</a:t>
            </a:r>
          </a:p>
          <a:p>
            <a:pPr marL="285750" indent="-285750">
              <a:buFont typeface="Arial"/>
              <a:buChar char="•"/>
            </a:pPr>
            <a:endParaRPr lang="en-US" sz="2000" dirty="0">
              <a:latin typeface="Times New Roman"/>
              <a:cs typeface="Times New Roman"/>
            </a:endParaRPr>
          </a:p>
          <a:p>
            <a:r>
              <a:rPr lang="en-US" sz="2000" b="1">
                <a:latin typeface="Times New Roman"/>
                <a:cs typeface="Times New Roman"/>
              </a:rPr>
              <a:t>4.2 SQL Injection (SQLi) </a:t>
            </a:r>
          </a:p>
          <a:p>
            <a:pPr marL="285750" indent="-285750">
              <a:buFont typeface="Arial"/>
              <a:buChar char="•"/>
            </a:pPr>
            <a:r>
              <a:rPr lang="en-US" sz="2000">
                <a:latin typeface="Times New Roman"/>
                <a:cs typeface="Times New Roman"/>
              </a:rPr>
              <a:t>Purpose: Test input validation weaknesses </a:t>
            </a:r>
            <a:endParaRPr lang="en-US" sz="2000" dirty="0">
              <a:latin typeface="Times New Roman"/>
              <a:cs typeface="Times New Roman"/>
            </a:endParaRPr>
          </a:p>
          <a:p>
            <a:pPr marL="285750" indent="-285750">
              <a:buFont typeface="Arial"/>
              <a:buChar char="•"/>
            </a:pPr>
            <a:r>
              <a:rPr lang="en-US" sz="2000">
                <a:latin typeface="Times New Roman"/>
                <a:cs typeface="Times New Roman"/>
              </a:rPr>
              <a:t>Method: Injected SQL payloads </a:t>
            </a:r>
            <a:r>
              <a:rPr lang="en-US" sz="2000" dirty="0">
                <a:latin typeface="Times New Roman"/>
                <a:cs typeface="Times New Roman"/>
              </a:rPr>
              <a:t>(e.g., ' OR '1'='1) Result: Authentication bypass achieved, granting unauthorized access </a:t>
            </a:r>
          </a:p>
          <a:p>
            <a:endParaRPr lang="en-US" sz="2000" dirty="0">
              <a:latin typeface="Times New Roman"/>
              <a:cs typeface="Times New Roman"/>
            </a:endParaRPr>
          </a:p>
          <a:p>
            <a:r>
              <a:rPr lang="en-US" sz="2000" b="1">
                <a:latin typeface="Times New Roman"/>
                <a:cs typeface="Times New Roman"/>
              </a:rPr>
              <a:t>4.3 Brute Force Attack </a:t>
            </a:r>
            <a:endParaRPr lang="en-US" b="1"/>
          </a:p>
          <a:p>
            <a:pPr marL="285750" indent="-285750">
              <a:buFont typeface="Arial"/>
              <a:buChar char="•"/>
            </a:pPr>
            <a:r>
              <a:rPr lang="en-US" sz="2000">
                <a:latin typeface="Times New Roman"/>
                <a:cs typeface="Times New Roman"/>
              </a:rPr>
              <a:t>Purpose: Test password security Tool </a:t>
            </a:r>
            <a:endParaRPr lang="en-US" sz="2000" dirty="0">
              <a:latin typeface="Times New Roman"/>
              <a:cs typeface="Times New Roman"/>
            </a:endParaRPr>
          </a:p>
          <a:p>
            <a:pPr marL="285750" indent="-285750">
              <a:buFont typeface="Arial"/>
              <a:buChar char="•"/>
            </a:pPr>
            <a:r>
              <a:rPr lang="en-US" sz="2000">
                <a:latin typeface="Times New Roman"/>
                <a:cs typeface="Times New Roman"/>
              </a:rPr>
              <a:t>Used: THC Hydra </a:t>
            </a:r>
            <a:r>
              <a:rPr lang="en-US" sz="2000" dirty="0">
                <a:latin typeface="Times New Roman"/>
                <a:cs typeface="Times New Roman"/>
              </a:rPr>
              <a:t>Method: Dictionary-based attack using common credentials Result: Valid login </a:t>
            </a:r>
            <a:r>
              <a:rPr lang="en-US" sz="2000">
                <a:latin typeface="Times New Roman"/>
                <a:cs typeface="Times New Roman"/>
              </a:rPr>
              <a:t>credentials successfully obtained due to lack of rate limiting</a:t>
            </a:r>
          </a:p>
        </p:txBody>
      </p:sp>
    </p:spTree>
    <p:extLst>
      <p:ext uri="{BB962C8B-B14F-4D97-AF65-F5344CB8AC3E}">
        <p14:creationId xmlns:p14="http://schemas.microsoft.com/office/powerpoint/2010/main" val="1203469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49F72A-6A02-9B54-89F8-38922BB872C4}"/>
              </a:ext>
            </a:extLst>
          </p:cNvPr>
          <p:cNvSpPr txBox="1"/>
          <p:nvPr/>
        </p:nvSpPr>
        <p:spPr>
          <a:xfrm>
            <a:off x="626302" y="798534"/>
            <a:ext cx="10824574" cy="969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0000"/>
                </a:solidFill>
                <a:latin typeface="Times New Roman"/>
                <a:ea typeface="Arial"/>
                <a:cs typeface="Arial"/>
              </a:rPr>
              <a:t>4.4 Cross-Site Scripting (XSS) </a:t>
            </a:r>
            <a:endParaRPr lang="en-US" sz="2000" b="1">
              <a:solidFill>
                <a:srgbClr val="000000"/>
              </a:solidFill>
              <a:latin typeface="Aptos" panose="020B0004020202020204"/>
              <a:ea typeface="Arial"/>
              <a:cs typeface="Arial"/>
            </a:endParaRPr>
          </a:p>
          <a:p>
            <a:pPr marL="342900" indent="-342900">
              <a:buFont typeface="Arial"/>
              <a:buChar char="•"/>
            </a:pPr>
            <a:r>
              <a:rPr lang="en-US" sz="2000">
                <a:solidFill>
                  <a:srgbClr val="000000"/>
                </a:solidFill>
                <a:latin typeface="Times New Roman"/>
                <a:ea typeface="Arial"/>
                <a:cs typeface="Arial"/>
              </a:rPr>
              <a:t>Purpose: Test</a:t>
            </a:r>
            <a:r>
              <a:rPr lang="en-US" sz="2000" dirty="0">
                <a:solidFill>
                  <a:srgbClr val="000000"/>
                </a:solidFill>
                <a:latin typeface="Times New Roman"/>
                <a:ea typeface="Arial"/>
                <a:cs typeface="Arial"/>
              </a:rPr>
              <a:t> client-side security </a:t>
            </a:r>
            <a:endParaRPr lang="en-US" sz="2000">
              <a:solidFill>
                <a:srgbClr val="000000"/>
              </a:solidFill>
              <a:latin typeface="Aptos" panose="020B0004020202020204"/>
              <a:ea typeface="Arial"/>
              <a:cs typeface="Arial"/>
            </a:endParaRPr>
          </a:p>
          <a:p>
            <a:pPr marL="342900" indent="-342900">
              <a:buFont typeface="Arial"/>
              <a:buChar char="•"/>
            </a:pPr>
            <a:r>
              <a:rPr lang="en-US" sz="2000" dirty="0">
                <a:solidFill>
                  <a:srgbClr val="000000"/>
                </a:solidFill>
                <a:latin typeface="Times New Roman"/>
                <a:ea typeface="Arial"/>
                <a:cs typeface="Arial"/>
              </a:rPr>
              <a:t>Method: Injected script payload () Result: Reflected XSS executed </a:t>
            </a:r>
            <a:r>
              <a:rPr lang="en-US" sz="2000">
                <a:solidFill>
                  <a:srgbClr val="000000"/>
                </a:solidFill>
                <a:latin typeface="Times New Roman"/>
                <a:ea typeface="Arial"/>
                <a:cs typeface="Arial"/>
              </a:rPr>
              <a:t>in browser</a:t>
            </a:r>
            <a:r>
              <a:rPr lang="en-US" sz="2000" dirty="0">
                <a:solidFill>
                  <a:srgbClr val="000000"/>
                </a:solidFill>
                <a:latin typeface="Times New Roman"/>
                <a:ea typeface="Arial"/>
                <a:cs typeface="Arial"/>
              </a:rPr>
              <a:t> Stored XSS saved in database and triggered on page visit</a:t>
            </a:r>
            <a:r>
              <a:rPr sz="2000" dirty="0">
                <a:solidFill>
                  <a:srgbClr val="000000"/>
                </a:solidFill>
                <a:latin typeface="Times New Roman"/>
                <a:ea typeface="Times New Roman"/>
                <a:cs typeface="Times New Roman"/>
              </a:rPr>
              <a:t>​</a:t>
            </a:r>
            <a:endParaRPr lang="en-US"/>
          </a:p>
          <a:p>
            <a:pPr algn="ctr"/>
            <a:endParaRPr lang="en-US"/>
          </a:p>
        </p:txBody>
      </p:sp>
    </p:spTree>
    <p:extLst>
      <p:ext uri="{BB962C8B-B14F-4D97-AF65-F5344CB8AC3E}">
        <p14:creationId xmlns:p14="http://schemas.microsoft.com/office/powerpoint/2010/main" val="3722273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AE8334-5F6D-CFC7-B3AB-71C25014D9E0}"/>
              </a:ext>
            </a:extLst>
          </p:cNvPr>
          <p:cNvSpPr txBox="1"/>
          <p:nvPr/>
        </p:nvSpPr>
        <p:spPr>
          <a:xfrm>
            <a:off x="584549" y="443630"/>
            <a:ext cx="11012464" cy="40164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5. Results and Findings </a:t>
            </a:r>
          </a:p>
          <a:p>
            <a:endParaRPr lang="en-US" dirty="0">
              <a:latin typeface="Times New Roman"/>
              <a:cs typeface="Times New Roman"/>
            </a:endParaRPr>
          </a:p>
          <a:p>
            <a:r>
              <a:rPr lang="en-US" sz="2000" dirty="0">
                <a:latin typeface="Times New Roman"/>
                <a:cs typeface="Times New Roman"/>
              </a:rPr>
              <a:t>The penetration testing phase identified several critical and high-risk vulnerabilities within the DVWA environment. The findings are summarized below, ordered by severity. </a:t>
            </a:r>
          </a:p>
          <a:p>
            <a:endParaRPr lang="en-US" sz="2000" dirty="0">
              <a:latin typeface="Times New Roman"/>
              <a:cs typeface="Times New Roman"/>
            </a:endParaRPr>
          </a:p>
          <a:p>
            <a:r>
              <a:rPr lang="en-US" sz="2000" b="1">
                <a:latin typeface="Times New Roman"/>
                <a:cs typeface="Times New Roman"/>
              </a:rPr>
              <a:t>5.1 Authentication Bypass </a:t>
            </a:r>
          </a:p>
          <a:p>
            <a:pPr marL="342900" indent="-342900">
              <a:buFont typeface="Arial"/>
              <a:buChar char="•"/>
            </a:pPr>
            <a:r>
              <a:rPr lang="en-US" sz="2000" dirty="0">
                <a:latin typeface="Times New Roman"/>
                <a:cs typeface="Times New Roman"/>
              </a:rPr>
              <a:t>Severity: Critical </a:t>
            </a:r>
          </a:p>
          <a:p>
            <a:pPr marL="342900" indent="-342900">
              <a:buFont typeface="Arial"/>
              <a:buChar char="•"/>
            </a:pPr>
            <a:r>
              <a:rPr lang="en-US" sz="2000" dirty="0">
                <a:latin typeface="Times New Roman"/>
                <a:cs typeface="Times New Roman"/>
              </a:rPr>
              <a:t>Description: A SQL injection (SQLi) vulnerability was identified in the login portal. </a:t>
            </a:r>
          </a:p>
          <a:p>
            <a:pPr marL="342900" indent="-342900">
              <a:buFont typeface="Arial"/>
              <a:buChar char="•"/>
            </a:pPr>
            <a:r>
              <a:rPr lang="en-US" sz="2000">
                <a:latin typeface="Times New Roman"/>
                <a:cs typeface="Times New Roman"/>
              </a:rPr>
              <a:t>Impact: This flaw allows an attacker to bypass authentication mechanisms entirely. By injecting malicious </a:t>
            </a:r>
            <a:r>
              <a:rPr lang="en-US" sz="2000" dirty="0">
                <a:latin typeface="Times New Roman"/>
                <a:cs typeface="Times New Roman"/>
              </a:rPr>
              <a:t>SQL queries, an unauthorized user can gain full access to the application without providing valid credentials. </a:t>
            </a:r>
            <a:endParaRPr lang="en-US"/>
          </a:p>
          <a:p>
            <a:pPr marL="342900" indent="-342900">
              <a:buFont typeface="Arial"/>
              <a:buChar char="•"/>
            </a:pPr>
            <a:r>
              <a:rPr lang="en-US" sz="2000" dirty="0">
                <a:latin typeface="Times New Roman"/>
                <a:cs typeface="Times New Roman"/>
              </a:rPr>
              <a:t>Recommendation: Implement prepared statements (parameterized queries) and utilize input validation to prevent SQL injection.</a:t>
            </a:r>
          </a:p>
          <a:p>
            <a:endParaRPr lang="en-US" sz="2000" dirty="0">
              <a:latin typeface="Times New Roman"/>
              <a:cs typeface="Times New Roman"/>
            </a:endParaRPr>
          </a:p>
          <a:p>
            <a:r>
              <a:rPr lang="en-US" sz="2000" b="1">
                <a:latin typeface="Times New Roman"/>
                <a:cs typeface="Times New Roman"/>
              </a:rPr>
              <a:t>5.2 Weak Password Policies &amp; Lack of Rate Limiting </a:t>
            </a:r>
            <a:endParaRPr lang="en-US" sz="2000" b="1" dirty="0">
              <a:latin typeface="Times New Roman"/>
              <a:cs typeface="Times New Roman"/>
            </a:endParaRPr>
          </a:p>
          <a:p>
            <a:pPr marL="342900" indent="-342900">
              <a:buFont typeface="Arial"/>
              <a:buChar char="•"/>
            </a:pPr>
            <a:r>
              <a:rPr lang="en-US" sz="2000" dirty="0">
                <a:latin typeface="Times New Roman"/>
                <a:cs typeface="Times New Roman"/>
              </a:rPr>
              <a:t>Severity: High </a:t>
            </a:r>
          </a:p>
          <a:p>
            <a:pPr marL="342900" indent="-342900">
              <a:buFont typeface="Arial"/>
              <a:buChar char="•"/>
            </a:pPr>
            <a:r>
              <a:rPr lang="en-US" sz="2000">
                <a:latin typeface="Times New Roman"/>
                <a:cs typeface="Times New Roman"/>
              </a:rPr>
              <a:t>Description: The application lacks account lockout or rate-limiting mechanisms. A brute-force attack using </a:t>
            </a:r>
            <a:r>
              <a:rPr lang="en-US" sz="2000" dirty="0">
                <a:latin typeface="Times New Roman"/>
                <a:cs typeface="Times New Roman"/>
              </a:rPr>
              <a:t>Hydra successfully compromised user accounts. </a:t>
            </a:r>
            <a:endParaRPr lang="en-US"/>
          </a:p>
          <a:p>
            <a:endParaRPr lang="en-US" sz="2000" dirty="0">
              <a:latin typeface="Times New Roman"/>
              <a:cs typeface="Times New Roman"/>
            </a:endParaRPr>
          </a:p>
        </p:txBody>
      </p:sp>
    </p:spTree>
    <p:extLst>
      <p:ext uri="{BB962C8B-B14F-4D97-AF65-F5344CB8AC3E}">
        <p14:creationId xmlns:p14="http://schemas.microsoft.com/office/powerpoint/2010/main" val="865722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4F2298-64A5-8D5B-6773-9353285ECB5E}"/>
              </a:ext>
            </a:extLst>
          </p:cNvPr>
          <p:cNvSpPr txBox="1"/>
          <p:nvPr/>
        </p:nvSpPr>
        <p:spPr>
          <a:xfrm>
            <a:off x="688932" y="558452"/>
            <a:ext cx="10814136" cy="32778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latin typeface="Times New Roman"/>
                <a:cs typeface="Times New Roman"/>
              </a:rPr>
              <a:t>Impact: The system is highly susceptible to automated credential stuffing and brute-force attacks. This allows attackers to gain unauthorized access by systematically guessing passwords.</a:t>
            </a:r>
            <a:endParaRPr lang="en-US">
              <a:latin typeface="Aptos" panose="020B0004020202020204"/>
              <a:cs typeface="Times New Roman"/>
            </a:endParaRPr>
          </a:p>
          <a:p>
            <a:pPr marL="342900" indent="-342900">
              <a:buFont typeface="Arial"/>
              <a:buChar char="•"/>
            </a:pPr>
            <a:r>
              <a:rPr lang="en-US" sz="2000">
                <a:latin typeface="Times New Roman"/>
                <a:cs typeface="Times New Roman"/>
              </a:rPr>
              <a:t>Recommendation: Enforce strong password complexity requirements and implement rate limiting or CAPTCHA after a set number of failed login attempts.</a:t>
            </a:r>
            <a:endParaRPr lang="en-US">
              <a:latin typeface="Aptos" panose="020B0004020202020204"/>
              <a:cs typeface="Times New Roman"/>
            </a:endParaRPr>
          </a:p>
          <a:p>
            <a:endParaRPr lang="en-US" sz="2000" dirty="0">
              <a:latin typeface="Times New Roman"/>
              <a:cs typeface="Times New Roman"/>
            </a:endParaRPr>
          </a:p>
          <a:p>
            <a:r>
              <a:rPr lang="en-US" sz="2000" b="1" dirty="0">
                <a:latin typeface="Times New Roman"/>
                <a:cs typeface="Times New Roman"/>
              </a:rPr>
              <a:t>5.3 Client-Side Code Execution (Stored XSS) </a:t>
            </a:r>
          </a:p>
          <a:p>
            <a:pPr marL="342900" indent="-342900">
              <a:buFont typeface="Arial"/>
              <a:buChar char="•"/>
            </a:pPr>
            <a:r>
              <a:rPr lang="en-US" sz="2000" dirty="0">
                <a:latin typeface="Times New Roman"/>
                <a:cs typeface="Times New Roman"/>
              </a:rPr>
              <a:t>Severity: High </a:t>
            </a:r>
          </a:p>
          <a:p>
            <a:pPr marL="342900" indent="-342900">
              <a:buFont typeface="Arial"/>
              <a:buChar char="•"/>
            </a:pPr>
            <a:r>
              <a:rPr lang="en-US" sz="2000">
                <a:latin typeface="Times New Roman"/>
                <a:cs typeface="Times New Roman"/>
              </a:rPr>
              <a:t>Description: The application is vulnerable to Stored Cross-Site Scripting (XSS). Malicious scripts can </a:t>
            </a:r>
            <a:r>
              <a:rPr lang="en-US" sz="2000" dirty="0">
                <a:latin typeface="Times New Roman"/>
                <a:cs typeface="Times New Roman"/>
              </a:rPr>
              <a:t>be injected and stored on the server. </a:t>
            </a:r>
          </a:p>
          <a:p>
            <a:pPr marL="342900" indent="-342900">
              <a:buFont typeface="Arial"/>
              <a:buChar char="•"/>
            </a:pPr>
            <a:r>
              <a:rPr lang="en-US" sz="2000" dirty="0">
                <a:latin typeface="Times New Roman"/>
                <a:cs typeface="Times New Roman"/>
              </a:rPr>
              <a:t>Impact: This poses a high risk of session hijacking. An attacker can steal administrator session cookies or perform actions on behalf of the user simply by having the victim view a compromised page.</a:t>
            </a:r>
          </a:p>
          <a:p>
            <a:pPr marL="342900" indent="-342900">
              <a:buFont typeface="Arial"/>
              <a:buChar char="•"/>
            </a:pPr>
            <a:r>
              <a:rPr lang="en-US" sz="2000">
                <a:latin typeface="Times New Roman"/>
                <a:cs typeface="Times New Roman"/>
              </a:rPr>
              <a:t>Recommendation: Sanitize all user-supplied input and implement a strong Content Security </a:t>
            </a:r>
            <a:r>
              <a:rPr lang="en-US" sz="2000" dirty="0">
                <a:latin typeface="Times New Roman"/>
                <a:cs typeface="Times New Roman"/>
              </a:rPr>
              <a:t>Policy (CSP) to restrict the execution of unauthorized scripts.</a:t>
            </a:r>
            <a:endParaRPr lang="en-US"/>
          </a:p>
          <a:p>
            <a:pPr algn="ctr"/>
            <a:endParaRPr lang="en-US"/>
          </a:p>
        </p:txBody>
      </p:sp>
    </p:spTree>
    <p:extLst>
      <p:ext uri="{BB962C8B-B14F-4D97-AF65-F5344CB8AC3E}">
        <p14:creationId xmlns:p14="http://schemas.microsoft.com/office/powerpoint/2010/main" val="3873697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BF72D5-9C1E-FA2C-3F11-46B5BF851553}"/>
              </a:ext>
            </a:extLst>
          </p:cNvPr>
          <p:cNvSpPr txBox="1"/>
          <p:nvPr/>
        </p:nvSpPr>
        <p:spPr>
          <a:xfrm>
            <a:off x="571062" y="330096"/>
            <a:ext cx="40094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6. Screenshot / </a:t>
            </a:r>
            <a:r>
              <a:rPr lang="en-US" sz="2400" b="1">
                <a:latin typeface="Times New Roman"/>
                <a:cs typeface="Times New Roman"/>
              </a:rPr>
              <a:t>Evidence</a:t>
            </a:r>
            <a:endParaRPr lang="en-US" sz="2400" b="1" dirty="0">
              <a:latin typeface="Times New Roman"/>
              <a:cs typeface="Times New Roman"/>
            </a:endParaRPr>
          </a:p>
        </p:txBody>
      </p:sp>
      <p:pic>
        <p:nvPicPr>
          <p:cNvPr id="3" name="Picture 2" descr="A screenshot of a computer&#10;&#10;AI-generated content may be incorrect.">
            <a:extLst>
              <a:ext uri="{FF2B5EF4-FFF2-40B4-BE49-F238E27FC236}">
                <a16:creationId xmlns:a16="http://schemas.microsoft.com/office/drawing/2014/main" id="{0B98D3FA-A145-C9E0-94F0-FAE4EC69E119}"/>
              </a:ext>
            </a:extLst>
          </p:cNvPr>
          <p:cNvPicPr>
            <a:picLocks noChangeAspect="1"/>
          </p:cNvPicPr>
          <p:nvPr/>
        </p:nvPicPr>
        <p:blipFill>
          <a:blip r:embed="rId2"/>
          <a:stretch>
            <a:fillRect/>
          </a:stretch>
        </p:blipFill>
        <p:spPr>
          <a:xfrm>
            <a:off x="1417824" y="1715060"/>
            <a:ext cx="6935882" cy="4783792"/>
          </a:xfrm>
          <a:prstGeom prst="rect">
            <a:avLst/>
          </a:prstGeom>
        </p:spPr>
      </p:pic>
      <p:sp>
        <p:nvSpPr>
          <p:cNvPr id="4" name="TextBox 3">
            <a:extLst>
              <a:ext uri="{FF2B5EF4-FFF2-40B4-BE49-F238E27FC236}">
                <a16:creationId xmlns:a16="http://schemas.microsoft.com/office/drawing/2014/main" id="{B3EC7A95-B406-643B-313D-31699388699E}"/>
              </a:ext>
            </a:extLst>
          </p:cNvPr>
          <p:cNvSpPr txBox="1"/>
          <p:nvPr/>
        </p:nvSpPr>
        <p:spPr>
          <a:xfrm>
            <a:off x="820206" y="1176025"/>
            <a:ext cx="37629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Figure 1: Nmap Scan Result</a:t>
            </a:r>
            <a:endParaRPr lang="en-US" b="1" dirty="0">
              <a:latin typeface="Times New Roman"/>
              <a:cs typeface="Times New Roman"/>
            </a:endParaRPr>
          </a:p>
        </p:txBody>
      </p:sp>
    </p:spTree>
    <p:extLst>
      <p:ext uri="{BB962C8B-B14F-4D97-AF65-F5344CB8AC3E}">
        <p14:creationId xmlns:p14="http://schemas.microsoft.com/office/powerpoint/2010/main" val="2997168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CAE7AD-C466-9576-B970-76BDF37A9348}"/>
              </a:ext>
            </a:extLst>
          </p:cNvPr>
          <p:cNvSpPr txBox="1"/>
          <p:nvPr/>
        </p:nvSpPr>
        <p:spPr>
          <a:xfrm>
            <a:off x="632424" y="472952"/>
            <a:ext cx="52533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Figure 2: SQL Injection </a:t>
            </a:r>
            <a:r>
              <a:rPr lang="en-US" b="1" dirty="0" err="1">
                <a:latin typeface="Times New Roman"/>
                <a:cs typeface="Times New Roman"/>
              </a:rPr>
              <a:t>Authenticatiom</a:t>
            </a:r>
            <a:r>
              <a:rPr lang="en-US" b="1" dirty="0">
                <a:latin typeface="Times New Roman"/>
                <a:cs typeface="Times New Roman"/>
              </a:rPr>
              <a:t> Bypass</a:t>
            </a:r>
            <a:endParaRPr lang="en-US" dirty="0"/>
          </a:p>
        </p:txBody>
      </p:sp>
      <p:pic>
        <p:nvPicPr>
          <p:cNvPr id="4" name="Picture 3" descr="A screenshot of a computer&#10;&#10;AI-generated content may be incorrect.">
            <a:extLst>
              <a:ext uri="{FF2B5EF4-FFF2-40B4-BE49-F238E27FC236}">
                <a16:creationId xmlns:a16="http://schemas.microsoft.com/office/drawing/2014/main" id="{9A11B896-2F87-5CE6-F83C-A2B0FEF62CFE}"/>
              </a:ext>
            </a:extLst>
          </p:cNvPr>
          <p:cNvPicPr>
            <a:picLocks noChangeAspect="1"/>
          </p:cNvPicPr>
          <p:nvPr/>
        </p:nvPicPr>
        <p:blipFill>
          <a:blip r:embed="rId2"/>
          <a:stretch>
            <a:fillRect/>
          </a:stretch>
        </p:blipFill>
        <p:spPr>
          <a:xfrm>
            <a:off x="1533092" y="941293"/>
            <a:ext cx="8554316" cy="5692589"/>
          </a:xfrm>
          <a:prstGeom prst="rect">
            <a:avLst/>
          </a:prstGeom>
        </p:spPr>
      </p:pic>
    </p:spTree>
    <p:extLst>
      <p:ext uri="{BB962C8B-B14F-4D97-AF65-F5344CB8AC3E}">
        <p14:creationId xmlns:p14="http://schemas.microsoft.com/office/powerpoint/2010/main" val="1014718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F73F8-27CC-7619-24D9-499FC2008A16}"/>
              </a:ext>
            </a:extLst>
          </p:cNvPr>
          <p:cNvSpPr txBox="1"/>
          <p:nvPr/>
        </p:nvSpPr>
        <p:spPr>
          <a:xfrm>
            <a:off x="698405" y="535597"/>
            <a:ext cx="39331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Figure 3: Hydra Brute Force Success</a:t>
            </a:r>
          </a:p>
        </p:txBody>
      </p:sp>
      <p:pic>
        <p:nvPicPr>
          <p:cNvPr id="3" name="Picture 2" descr="A computer screen shot of a program&#10;&#10;AI-generated content may be incorrect.">
            <a:extLst>
              <a:ext uri="{FF2B5EF4-FFF2-40B4-BE49-F238E27FC236}">
                <a16:creationId xmlns:a16="http://schemas.microsoft.com/office/drawing/2014/main" id="{8F949381-8DC1-CF5B-A293-6E96512110D8}"/>
              </a:ext>
            </a:extLst>
          </p:cNvPr>
          <p:cNvPicPr>
            <a:picLocks noChangeAspect="1"/>
          </p:cNvPicPr>
          <p:nvPr/>
        </p:nvPicPr>
        <p:blipFill>
          <a:blip r:embed="rId2"/>
          <a:stretch>
            <a:fillRect/>
          </a:stretch>
        </p:blipFill>
        <p:spPr>
          <a:xfrm>
            <a:off x="1347983" y="1098115"/>
            <a:ext cx="7867650" cy="5423770"/>
          </a:xfrm>
          <a:prstGeom prst="rect">
            <a:avLst/>
          </a:prstGeom>
        </p:spPr>
      </p:pic>
    </p:spTree>
    <p:extLst>
      <p:ext uri="{BB962C8B-B14F-4D97-AF65-F5344CB8AC3E}">
        <p14:creationId xmlns:p14="http://schemas.microsoft.com/office/powerpoint/2010/main" val="1890717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91A7A5-81EE-3C8D-B29B-49282E77EEE3}"/>
              </a:ext>
            </a:extLst>
          </p:cNvPr>
          <p:cNvSpPr txBox="1"/>
          <p:nvPr/>
        </p:nvSpPr>
        <p:spPr>
          <a:xfrm>
            <a:off x="808418" y="453087"/>
            <a:ext cx="3484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Times New Roman"/>
              </a:rPr>
              <a:t>Figure 4: </a:t>
            </a:r>
            <a:r>
              <a:rPr lang="en-US" b="1">
                <a:latin typeface="Times New Roman"/>
                <a:cs typeface="Times New Roman"/>
              </a:rPr>
              <a:t>Stored XSS Execution</a:t>
            </a:r>
            <a:endParaRPr lang="en-US" b="1" dirty="0">
              <a:latin typeface="Times New Roman"/>
              <a:cs typeface="Times New Roman"/>
            </a:endParaRPr>
          </a:p>
        </p:txBody>
      </p:sp>
      <p:pic>
        <p:nvPicPr>
          <p:cNvPr id="3" name="Picture 2" descr="A screenshot of a computer&#10;&#10;AI-generated content may be incorrect.">
            <a:extLst>
              <a:ext uri="{FF2B5EF4-FFF2-40B4-BE49-F238E27FC236}">
                <a16:creationId xmlns:a16="http://schemas.microsoft.com/office/drawing/2014/main" id="{108689ED-B594-3328-A65B-3FB58C8ECEC2}"/>
              </a:ext>
            </a:extLst>
          </p:cNvPr>
          <p:cNvPicPr>
            <a:picLocks noChangeAspect="1"/>
          </p:cNvPicPr>
          <p:nvPr/>
        </p:nvPicPr>
        <p:blipFill>
          <a:blip r:embed="rId2"/>
          <a:stretch>
            <a:fillRect/>
          </a:stretch>
        </p:blipFill>
        <p:spPr>
          <a:xfrm>
            <a:off x="1158657" y="1002844"/>
            <a:ext cx="9311015" cy="4852313"/>
          </a:xfrm>
          <a:prstGeom prst="rect">
            <a:avLst/>
          </a:prstGeom>
        </p:spPr>
      </p:pic>
    </p:spTree>
    <p:extLst>
      <p:ext uri="{BB962C8B-B14F-4D97-AF65-F5344CB8AC3E}">
        <p14:creationId xmlns:p14="http://schemas.microsoft.com/office/powerpoint/2010/main" val="86065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FEA3A5-1A24-0493-A9E3-9EFDF3BB4584}"/>
              </a:ext>
            </a:extLst>
          </p:cNvPr>
          <p:cNvSpPr txBox="1"/>
          <p:nvPr/>
        </p:nvSpPr>
        <p:spPr>
          <a:xfrm>
            <a:off x="699372" y="610644"/>
            <a:ext cx="10793257" cy="39934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7. Mitigation Strategies Objective </a:t>
            </a:r>
          </a:p>
          <a:p>
            <a:endParaRPr lang="en-US" dirty="0">
              <a:latin typeface="Times New Roman"/>
              <a:cs typeface="Times New Roman"/>
            </a:endParaRPr>
          </a:p>
          <a:p>
            <a:r>
              <a:rPr lang="en-US" sz="2000">
                <a:latin typeface="Times New Roman"/>
                <a:cs typeface="Times New Roman"/>
              </a:rPr>
              <a:t>To secure the application, the following defensive measures </a:t>
            </a:r>
            <a:r>
              <a:rPr lang="en-US" sz="2000" dirty="0">
                <a:latin typeface="Times New Roman"/>
                <a:cs typeface="Times New Roman"/>
              </a:rPr>
              <a:t>must be integrated into the source code: </a:t>
            </a:r>
          </a:p>
          <a:p>
            <a:r>
              <a:rPr lang="en-US" sz="2000" b="1">
                <a:latin typeface="Times New Roman"/>
                <a:cs typeface="Times New Roman"/>
              </a:rPr>
              <a:t>1. SQL Injection (SQLi) Defense: </a:t>
            </a:r>
          </a:p>
          <a:p>
            <a:pPr marL="285750" indent="-285750">
              <a:buFont typeface="Arial"/>
              <a:buChar char="•"/>
            </a:pPr>
            <a:r>
              <a:rPr lang="en-US" sz="2000">
                <a:latin typeface="Times New Roman"/>
                <a:cs typeface="Times New Roman"/>
              </a:rPr>
              <a:t>Primary Action: Implement Prepared Statements (Parameterized Queries). </a:t>
            </a:r>
            <a:endParaRPr lang="en-US" sz="2000" dirty="0">
              <a:latin typeface="Times New Roman"/>
              <a:cs typeface="Times New Roman"/>
            </a:endParaRPr>
          </a:p>
          <a:p>
            <a:pPr marL="285750" indent="-285750">
              <a:buFont typeface="Arial"/>
              <a:buChar char="•"/>
            </a:pPr>
            <a:r>
              <a:rPr lang="en-US" sz="2000">
                <a:latin typeface="Times New Roman"/>
                <a:cs typeface="Times New Roman"/>
              </a:rPr>
              <a:t>How it works: </a:t>
            </a:r>
            <a:r>
              <a:rPr lang="en-US" sz="2000" dirty="0">
                <a:latin typeface="Times New Roman"/>
                <a:cs typeface="Times New Roman"/>
              </a:rPr>
              <a:t>Treats user input as string data only, preventing the database from executing it as a command. </a:t>
            </a:r>
          </a:p>
          <a:p>
            <a:pPr marL="285750" indent="-285750">
              <a:buFont typeface="Arial"/>
              <a:buChar char="•"/>
            </a:pPr>
            <a:endParaRPr lang="en-US" sz="2000" dirty="0">
              <a:latin typeface="Times New Roman"/>
              <a:cs typeface="Times New Roman"/>
            </a:endParaRPr>
          </a:p>
          <a:p>
            <a:r>
              <a:rPr lang="en-US" sz="2000" b="1">
                <a:latin typeface="Times New Roman"/>
                <a:cs typeface="Times New Roman"/>
              </a:rPr>
              <a:t>2. Brute Force Protection:</a:t>
            </a:r>
          </a:p>
          <a:p>
            <a:pPr marL="285750" indent="-285750">
              <a:buFont typeface="Arial"/>
              <a:buChar char="•"/>
            </a:pPr>
            <a:r>
              <a:rPr lang="en-US" sz="2000">
                <a:latin typeface="Times New Roman"/>
                <a:cs typeface="Times New Roman"/>
              </a:rPr>
              <a:t>Access Control: Enforce Account Lockout </a:t>
            </a:r>
            <a:r>
              <a:rPr lang="en-US" sz="2000" dirty="0">
                <a:latin typeface="Times New Roman"/>
                <a:cs typeface="Times New Roman"/>
              </a:rPr>
              <a:t>Policies (e.g., 5 failed attempts = 15-minute </a:t>
            </a:r>
            <a:r>
              <a:rPr lang="en-US" sz="2000">
                <a:latin typeface="Times New Roman"/>
                <a:cs typeface="Times New Roman"/>
              </a:rPr>
              <a:t>lockout).</a:t>
            </a:r>
          </a:p>
          <a:p>
            <a:pPr marL="285750" indent="-285750">
              <a:buFont typeface="Arial"/>
              <a:buChar char="•"/>
            </a:pPr>
            <a:r>
              <a:rPr lang="en-US" sz="2000">
                <a:latin typeface="Times New Roman"/>
                <a:cs typeface="Times New Roman"/>
              </a:rPr>
              <a:t>Validation: Integrate CAPTCHA to block automated tools like Hydra.</a:t>
            </a:r>
          </a:p>
          <a:p>
            <a:pPr marL="285750" indent="-285750">
              <a:buFont typeface="Arial"/>
              <a:buChar char="•"/>
            </a:pPr>
            <a:r>
              <a:rPr lang="en-US" sz="2000">
                <a:latin typeface="Times New Roman"/>
                <a:cs typeface="Times New Roman"/>
              </a:rPr>
              <a:t>Hygiene: Require strong password complexity rules.</a:t>
            </a:r>
            <a:endParaRPr lang="en-US" sz="2000" dirty="0">
              <a:latin typeface="Times New Roman"/>
              <a:cs typeface="Times New Roman"/>
            </a:endParaRPr>
          </a:p>
          <a:p>
            <a:pPr marL="285750" indent="-285750">
              <a:buFont typeface="Arial"/>
              <a:buChar char="•"/>
            </a:pPr>
            <a:endParaRPr lang="en-US" sz="2000" dirty="0">
              <a:latin typeface="Times New Roman"/>
              <a:cs typeface="Times New Roman"/>
            </a:endParaRPr>
          </a:p>
          <a:p>
            <a:r>
              <a:rPr lang="en-US" sz="2000" b="1">
                <a:latin typeface="Times New Roman"/>
                <a:cs typeface="Times New Roman"/>
              </a:rPr>
              <a:t>3. Cross-Site Scripting (XSS) Mitigation:</a:t>
            </a:r>
          </a:p>
          <a:p>
            <a:pPr marL="285750" indent="-285750">
              <a:buFont typeface="Arial"/>
              <a:buChar char="•"/>
            </a:pPr>
            <a:r>
              <a:rPr lang="en-US" sz="2000">
                <a:latin typeface="Times New Roman"/>
                <a:cs typeface="Times New Roman"/>
              </a:rPr>
              <a:t>Sanitization: Strict Input Validation using "allow-lists" for characters. </a:t>
            </a:r>
            <a:endParaRPr lang="en-US" sz="2000" dirty="0">
              <a:latin typeface="Times New Roman"/>
              <a:cs typeface="Times New Roman"/>
            </a:endParaRPr>
          </a:p>
          <a:p>
            <a:pPr marL="285750" indent="-285750">
              <a:buFont typeface="Arial"/>
              <a:buChar char="•"/>
            </a:pPr>
            <a:r>
              <a:rPr lang="en-US" sz="2000">
                <a:latin typeface="Times New Roman"/>
                <a:cs typeface="Times New Roman"/>
              </a:rPr>
              <a:t>Encoding: Use </a:t>
            </a:r>
            <a:r>
              <a:rPr lang="en-US" sz="2000" dirty="0">
                <a:latin typeface="Times New Roman"/>
                <a:cs typeface="Times New Roman"/>
              </a:rPr>
              <a:t>Context-Aware Output Encoding (convert characters like &lt; and &gt; to HTML </a:t>
            </a:r>
            <a:r>
              <a:rPr lang="en-US" sz="2000">
                <a:latin typeface="Times New Roman"/>
                <a:cs typeface="Times New Roman"/>
              </a:rPr>
              <a:t>entities).</a:t>
            </a:r>
          </a:p>
          <a:p>
            <a:pPr marL="285750" indent="-285750">
              <a:buFont typeface="Arial"/>
              <a:buChar char="•"/>
            </a:pPr>
            <a:r>
              <a:rPr lang="en-US" sz="2000">
                <a:latin typeface="Times New Roman"/>
                <a:cs typeface="Times New Roman"/>
              </a:rPr>
              <a:t> Policy: Deploy a strict Content Security Policy (CSP).</a:t>
            </a:r>
          </a:p>
          <a:p>
            <a:pPr algn="ctr"/>
            <a:endParaRPr lang="en-US"/>
          </a:p>
        </p:txBody>
      </p:sp>
    </p:spTree>
    <p:extLst>
      <p:ext uri="{BB962C8B-B14F-4D97-AF65-F5344CB8AC3E}">
        <p14:creationId xmlns:p14="http://schemas.microsoft.com/office/powerpoint/2010/main" val="4173631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013BFA-5794-C174-1BCA-AA532FC5927F}"/>
              </a:ext>
            </a:extLst>
          </p:cNvPr>
          <p:cNvSpPr txBox="1"/>
          <p:nvPr/>
        </p:nvSpPr>
        <p:spPr>
          <a:xfrm>
            <a:off x="584549" y="151356"/>
            <a:ext cx="11022902" cy="39934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8. Incident Response </a:t>
            </a:r>
            <a:endParaRPr lang="en-US" sz="2400" dirty="0"/>
          </a:p>
          <a:p>
            <a:endParaRPr lang="en-US" sz="2000" dirty="0"/>
          </a:p>
          <a:p>
            <a:r>
              <a:rPr lang="en-US" sz="2000"/>
              <a:t>Objective: Essential detection strategies for Blue Teams and Security Operations Centers (SOC) to </a:t>
            </a:r>
            <a:r>
              <a:rPr lang="en-US" sz="2000" dirty="0"/>
              <a:t>identify</a:t>
            </a:r>
            <a:r>
              <a:rPr lang="en-US" sz="2000"/>
              <a:t> live attacks.</a:t>
            </a:r>
            <a:endParaRPr lang="en-US" sz="2000" dirty="0"/>
          </a:p>
          <a:p>
            <a:r>
              <a:rPr lang="en-US" sz="2000" b="1"/>
              <a:t>I. Reconnaissance Detection</a:t>
            </a:r>
            <a:r>
              <a:rPr lang="en-US" sz="2000" dirty="0"/>
              <a:t> </a:t>
            </a:r>
          </a:p>
          <a:p>
            <a:pPr marL="285750" indent="-285750">
              <a:buFont typeface="Arial"/>
              <a:buChar char="•"/>
            </a:pPr>
            <a:r>
              <a:rPr lang="en-US" sz="2000"/>
              <a:t>Indicator: Unusually high connection volumes across multiple ports from a single IP. </a:t>
            </a:r>
            <a:endParaRPr lang="en-US" sz="2000" dirty="0"/>
          </a:p>
          <a:p>
            <a:pPr marL="285750" indent="-285750">
              <a:buFont typeface="Arial"/>
              <a:buChar char="•"/>
            </a:pPr>
            <a:r>
              <a:rPr lang="en-US" sz="2000"/>
              <a:t>Tools: Use IDS </a:t>
            </a:r>
            <a:r>
              <a:rPr lang="en-US" sz="2000" dirty="0"/>
              <a:t>(Intrusion Detection Systems) like Snort or Zeek to flag port scans. </a:t>
            </a:r>
          </a:p>
          <a:p>
            <a:endParaRPr lang="en-US" sz="2000" dirty="0"/>
          </a:p>
          <a:p>
            <a:r>
              <a:rPr lang="en-US" sz="2000" b="1" dirty="0"/>
              <a:t>II. SQLi &amp; XSS </a:t>
            </a:r>
            <a:r>
              <a:rPr lang="en-US" sz="2000" b="1"/>
              <a:t>Detection</a:t>
            </a:r>
            <a:endParaRPr lang="en-US" sz="2000" b="1" dirty="0"/>
          </a:p>
          <a:p>
            <a:pPr marL="342900" indent="-342900">
              <a:buFont typeface="Arial"/>
              <a:buChar char="•"/>
            </a:pPr>
            <a:r>
              <a:rPr lang="en-US" sz="2000"/>
              <a:t>WAF Monitoring: Configure Web Application Firewalls to inspect HTTP traffic for malicious signatures </a:t>
            </a:r>
            <a:r>
              <a:rPr lang="en-US" sz="2000" dirty="0"/>
              <a:t>(e.g., UNION SELECT, 'OR 1=1', or </a:t>
            </a:r>
            <a:r>
              <a:rPr lang="en-US" sz="2000">
                <a:ea typeface="+mn-lt"/>
                <a:cs typeface="+mn-lt"/>
              </a:rPr>
              <a:t>*&lt;script&gt;).</a:t>
            </a:r>
            <a:endParaRPr lang="en-US" sz="2000" dirty="0">
              <a:ea typeface="+mn-lt"/>
              <a:cs typeface="+mn-lt"/>
            </a:endParaRPr>
          </a:p>
          <a:p>
            <a:pPr marL="342900" indent="-342900">
              <a:buFont typeface="Arial"/>
              <a:buChar char="•"/>
            </a:pPr>
            <a:r>
              <a:rPr lang="en-US" sz="2000">
                <a:ea typeface="+mn-lt"/>
                <a:cs typeface="+mn-lt"/>
              </a:rPr>
              <a:t>Log Analysis: Audit Apache/Nginx access logs for these characters in URL parameters for post-incident forensics.</a:t>
            </a:r>
            <a:endParaRPr lang="en-US" sz="2000" dirty="0"/>
          </a:p>
          <a:p>
            <a:pPr marL="342900" indent="-342900">
              <a:buFont typeface="Arial"/>
              <a:buChar char="•"/>
            </a:pPr>
            <a:endParaRPr lang="en-US" sz="2000" dirty="0">
              <a:ea typeface="+mn-lt"/>
              <a:cs typeface="+mn-lt"/>
            </a:endParaRPr>
          </a:p>
          <a:p>
            <a:r>
              <a:rPr lang="en-US" sz="2000" b="1">
                <a:ea typeface="+mn-lt"/>
                <a:cs typeface="+mn-lt"/>
              </a:rPr>
              <a:t>III. Brute Force Detection</a:t>
            </a:r>
            <a:endParaRPr lang="en-US" sz="2000" b="1" dirty="0"/>
          </a:p>
          <a:p>
            <a:pPr marL="342900" indent="-342900">
              <a:buFont typeface="Arial"/>
              <a:buChar char="•"/>
            </a:pPr>
            <a:r>
              <a:rPr lang="en-US" sz="2000">
                <a:ea typeface="+mn-lt"/>
                <a:cs typeface="+mn-lt"/>
              </a:rPr>
              <a:t>SIEM Configuration: Set high-threshold alerts for HTTP 401 (Unauthorized) or HTTP 302 (Redirect) responses.</a:t>
            </a:r>
            <a:endParaRPr lang="en-US" sz="2000" dirty="0"/>
          </a:p>
          <a:p>
            <a:pPr marL="342900" indent="-342900">
              <a:buFont typeface="Arial"/>
              <a:buChar char="•"/>
            </a:pPr>
            <a:r>
              <a:rPr lang="en-US" sz="2000" dirty="0">
                <a:ea typeface="+mn-lt"/>
                <a:cs typeface="+mn-lt"/>
              </a:rPr>
              <a:t>Pattern: Watch for multiple failed login attempts against a single account within a short timeframe.</a:t>
            </a:r>
            <a:endParaRPr lang="en-US" sz="2000" dirty="0"/>
          </a:p>
          <a:p>
            <a:endParaRPr lang="en-US" dirty="0"/>
          </a:p>
          <a:p>
            <a:pPr algn="ctr"/>
            <a:endParaRPr lang="en-US"/>
          </a:p>
        </p:txBody>
      </p:sp>
    </p:spTree>
    <p:extLst>
      <p:ext uri="{BB962C8B-B14F-4D97-AF65-F5344CB8AC3E}">
        <p14:creationId xmlns:p14="http://schemas.microsoft.com/office/powerpoint/2010/main" val="889388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8D73D2-CD4D-64F1-FC2C-8BF139B9F98A}"/>
              </a:ext>
            </a:extLst>
          </p:cNvPr>
          <p:cNvSpPr txBox="1"/>
          <p:nvPr/>
        </p:nvSpPr>
        <p:spPr>
          <a:xfrm>
            <a:off x="803753" y="725466"/>
            <a:ext cx="10584493"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9. Conclusion </a:t>
            </a:r>
            <a:endParaRPr lang="en-US" sz="2400" b="1" dirty="0">
              <a:latin typeface="Times New Roman"/>
              <a:cs typeface="Times New Roman"/>
            </a:endParaRPr>
          </a:p>
          <a:p>
            <a:endParaRPr lang="en-US" sz="2400" b="1" dirty="0">
              <a:latin typeface="Times New Roman"/>
              <a:cs typeface="Times New Roman"/>
            </a:endParaRPr>
          </a:p>
          <a:p>
            <a:r>
              <a:rPr lang="en-US" sz="2000" dirty="0">
                <a:latin typeface="Times New Roman"/>
                <a:cs typeface="Times New Roman"/>
              </a:rPr>
              <a:t>Project Overview: Web Application Penetration Testing using DVWA. </a:t>
            </a:r>
          </a:p>
          <a:p>
            <a:endParaRPr lang="en-US" sz="2000" dirty="0">
              <a:latin typeface="Times New Roman"/>
              <a:cs typeface="Times New Roman"/>
            </a:endParaRPr>
          </a:p>
          <a:p>
            <a:r>
              <a:rPr lang="en-US" sz="2000" b="1">
                <a:latin typeface="Times New Roman"/>
                <a:cs typeface="Times New Roman"/>
              </a:rPr>
              <a:t>Key Takeaways</a:t>
            </a:r>
            <a:endParaRPr lang="en-US" sz="2000" b="1" dirty="0">
              <a:latin typeface="Times New Roman"/>
              <a:cs typeface="Times New Roman"/>
            </a:endParaRPr>
          </a:p>
          <a:p>
            <a:pPr marL="285750" indent="-285750">
              <a:buFont typeface="Arial"/>
              <a:buChar char="•"/>
            </a:pPr>
            <a:r>
              <a:rPr lang="en-US" sz="2000" dirty="0">
                <a:latin typeface="Times New Roman"/>
                <a:cs typeface="Times New Roman"/>
              </a:rPr>
              <a:t>Practical Exploitation: Successfully utilized industry-standard tools to manually exploit SQLi, XSS, and Weak Authentication.</a:t>
            </a:r>
          </a:p>
          <a:p>
            <a:pPr marL="285750" indent="-285750">
              <a:buFont typeface="Arial"/>
              <a:buChar char="•"/>
            </a:pPr>
            <a:r>
              <a:rPr lang="en-US" sz="2000" dirty="0">
                <a:latin typeface="Times New Roman"/>
                <a:cs typeface="Times New Roman"/>
              </a:rPr>
              <a:t>System Impact: Demonstrated how these vulnerabilities directly compromise the CIA Triad </a:t>
            </a:r>
            <a:r>
              <a:rPr lang="en-US" sz="2000">
                <a:latin typeface="Times New Roman"/>
                <a:cs typeface="Times New Roman"/>
              </a:rPr>
              <a:t>(Confidentiality, Integrity, and Availability).</a:t>
            </a:r>
            <a:endParaRPr lang="en-US" sz="2000" dirty="0">
              <a:latin typeface="Times New Roman"/>
              <a:cs typeface="Times New Roman"/>
            </a:endParaRPr>
          </a:p>
          <a:p>
            <a:pPr marL="285750" indent="-285750">
              <a:buFont typeface="Arial"/>
              <a:buChar char="•"/>
            </a:pPr>
            <a:r>
              <a:rPr lang="en-US" sz="2000">
                <a:latin typeface="Times New Roman"/>
                <a:cs typeface="Times New Roman"/>
              </a:rPr>
              <a:t>Defensive Necessity: Highlighted the critical link between </a:t>
            </a:r>
            <a:r>
              <a:rPr lang="en-US" sz="2000" dirty="0">
                <a:latin typeface="Times New Roman"/>
                <a:cs typeface="Times New Roman"/>
              </a:rPr>
              <a:t>proactive Incident Response and Secure Coding practices. </a:t>
            </a:r>
          </a:p>
          <a:p>
            <a:pPr marL="285750" indent="-285750">
              <a:buFont typeface="Arial"/>
              <a:buChar char="•"/>
            </a:pPr>
            <a:endParaRPr lang="en-US" sz="2000" dirty="0">
              <a:latin typeface="Times New Roman"/>
              <a:cs typeface="Times New Roman"/>
            </a:endParaRPr>
          </a:p>
          <a:p>
            <a:r>
              <a:rPr lang="en-US" sz="2000" b="1" dirty="0">
                <a:latin typeface="Times New Roman"/>
                <a:cs typeface="Times New Roman"/>
              </a:rPr>
              <a:t>Final Summary </a:t>
            </a:r>
          </a:p>
          <a:p>
            <a:r>
              <a:rPr lang="en-US" sz="2000" dirty="0">
                <a:latin typeface="Times New Roman"/>
                <a:cs typeface="Times New Roman"/>
              </a:rPr>
              <a:t>This internship project successfully solidified a practical foundation </a:t>
            </a:r>
            <a:r>
              <a:rPr lang="en-US" sz="2000" dirty="0" err="1">
                <a:latin typeface="Times New Roman"/>
                <a:cs typeface="Times New Roman"/>
              </a:rPr>
              <a:t>in:</a:t>
            </a:r>
            <a:r>
              <a:rPr lang="en-US" sz="2000" dirty="0">
                <a:latin typeface="Times New Roman"/>
                <a:cs typeface="Times New Roman"/>
              </a:rPr>
              <a:t> </a:t>
            </a:r>
          </a:p>
          <a:p>
            <a:r>
              <a:rPr lang="en-US" sz="2000">
                <a:latin typeface="Times New Roman"/>
                <a:cs typeface="Times New Roman"/>
              </a:rPr>
              <a:t>1. Offensive Security (Penetration </a:t>
            </a:r>
            <a:r>
              <a:rPr lang="en-US" sz="2000" dirty="0">
                <a:latin typeface="Times New Roman"/>
                <a:cs typeface="Times New Roman"/>
              </a:rPr>
              <a:t>Testing) </a:t>
            </a:r>
          </a:p>
          <a:p>
            <a:r>
              <a:rPr lang="en-US" sz="2000">
                <a:latin typeface="Times New Roman"/>
                <a:cs typeface="Times New Roman"/>
              </a:rPr>
              <a:t>2. Defensive Architecture (Network Monitoring)</a:t>
            </a:r>
          </a:p>
          <a:p>
            <a:pPr algn="ctr"/>
            <a:endParaRPr lang="en-US"/>
          </a:p>
        </p:txBody>
      </p:sp>
    </p:spTree>
    <p:extLst>
      <p:ext uri="{BB962C8B-B14F-4D97-AF65-F5344CB8AC3E}">
        <p14:creationId xmlns:p14="http://schemas.microsoft.com/office/powerpoint/2010/main" val="3805046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5B7532-C937-826C-67B8-6819D9D5BC48}"/>
              </a:ext>
            </a:extLst>
          </p:cNvPr>
          <p:cNvSpPr txBox="1"/>
          <p:nvPr/>
        </p:nvSpPr>
        <p:spPr>
          <a:xfrm>
            <a:off x="762000" y="840287"/>
            <a:ext cx="60960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10. References </a:t>
            </a:r>
          </a:p>
          <a:p>
            <a:endParaRPr lang="en-US" sz="2000" dirty="0">
              <a:latin typeface="Times New Roman"/>
              <a:cs typeface="Times New Roman"/>
            </a:endParaRPr>
          </a:p>
          <a:p>
            <a:pPr marL="342900" indent="-342900">
              <a:buAutoNum type="arabicPeriod"/>
            </a:pPr>
            <a:r>
              <a:rPr lang="en-US" sz="2000">
                <a:latin typeface="Times New Roman"/>
                <a:cs typeface="Times New Roman"/>
              </a:rPr>
              <a:t>OWASP Top 10 Web Application Security </a:t>
            </a:r>
            <a:r>
              <a:rPr lang="en-US" sz="2000" dirty="0">
                <a:latin typeface="Times New Roman"/>
                <a:cs typeface="Times New Roman"/>
              </a:rPr>
              <a:t>Risks:</a:t>
            </a:r>
          </a:p>
          <a:p>
            <a:pPr marL="342900" indent="-342900">
              <a:buAutoNum type="arabicPeriod"/>
            </a:pPr>
            <a:r>
              <a:rPr lang="en-US" sz="2000">
                <a:latin typeface="Times New Roman"/>
                <a:cs typeface="Times New Roman"/>
              </a:rPr>
              <a:t>DVWA (Damn Vulnerable Web App) Documentation: </a:t>
            </a:r>
            <a:endParaRPr lang="en-US" sz="2000" dirty="0">
              <a:latin typeface="Times New Roman"/>
              <a:cs typeface="Times New Roman"/>
            </a:endParaRPr>
          </a:p>
          <a:p>
            <a:pPr marL="342900" indent="-342900">
              <a:buAutoNum type="arabicPeriod"/>
            </a:pPr>
            <a:r>
              <a:rPr lang="en-US" sz="2000" dirty="0">
                <a:latin typeface="Times New Roman"/>
                <a:cs typeface="Times New Roman"/>
              </a:rPr>
              <a:t>Kali Linux Official </a:t>
            </a:r>
            <a:r>
              <a:rPr lang="en-US" sz="2000">
                <a:latin typeface="Times New Roman"/>
                <a:cs typeface="Times New Roman"/>
              </a:rPr>
              <a:t>Documentation:</a:t>
            </a:r>
            <a:endParaRPr lang="en-US" sz="2000" dirty="0">
              <a:latin typeface="Times New Roman"/>
              <a:cs typeface="Times New Roman"/>
            </a:endParaRPr>
          </a:p>
          <a:p>
            <a:pPr marL="342900" indent="-342900">
              <a:buAutoNum type="arabicPeriod"/>
            </a:pPr>
            <a:r>
              <a:rPr lang="en-US" sz="2000">
                <a:latin typeface="Times New Roman"/>
                <a:cs typeface="Times New Roman"/>
              </a:rPr>
              <a:t>Nmap Network Scanning Guide:</a:t>
            </a:r>
            <a:endParaRPr lang="en-US" sz="2000" dirty="0">
              <a:latin typeface="Times New Roman"/>
              <a:cs typeface="Times New Roman"/>
            </a:endParaRPr>
          </a:p>
          <a:p>
            <a:pPr marL="342900" indent="-342900">
              <a:buAutoNum type="arabicPeriod"/>
            </a:pPr>
            <a:r>
              <a:rPr lang="en-US" sz="2000" dirty="0">
                <a:latin typeface="Times New Roman"/>
                <a:cs typeface="Times New Roman"/>
              </a:rPr>
              <a:t>TCH hydra </a:t>
            </a:r>
            <a:r>
              <a:rPr lang="en-US" sz="2000" dirty="0" err="1">
                <a:latin typeface="Times New Roman"/>
                <a:cs typeface="Times New Roman"/>
              </a:rPr>
              <a:t>Respsitory</a:t>
            </a:r>
            <a:endParaRPr lang="en-US" sz="2000" dirty="0">
              <a:latin typeface="Times New Roman"/>
              <a:cs typeface="Times New Roman"/>
            </a:endParaRPr>
          </a:p>
          <a:p>
            <a:pPr algn="ctr"/>
            <a:endParaRPr lang="en-US"/>
          </a:p>
        </p:txBody>
      </p:sp>
    </p:spTree>
    <p:extLst>
      <p:ext uri="{BB962C8B-B14F-4D97-AF65-F5344CB8AC3E}">
        <p14:creationId xmlns:p14="http://schemas.microsoft.com/office/powerpoint/2010/main" val="1406827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7F38F18-E726-5A63-150D-901EF45F4DD9}"/>
              </a:ext>
            </a:extLst>
          </p:cNvPr>
          <p:cNvSpPr txBox="1"/>
          <p:nvPr/>
        </p:nvSpPr>
        <p:spPr>
          <a:xfrm>
            <a:off x="1524003" y="1999615"/>
            <a:ext cx="9144000" cy="276402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7200" b="1" kern="1200">
                <a:solidFill>
                  <a:schemeClr val="tx1"/>
                </a:solidFill>
                <a:latin typeface="+mj-lt"/>
                <a:ea typeface="+mj-ea"/>
                <a:cs typeface="+mj-cs"/>
              </a:rPr>
              <a:t>THANK YOU</a:t>
            </a:r>
          </a:p>
        </p:txBody>
      </p:sp>
      <p:sp>
        <p:nvSpPr>
          <p:cNvPr id="27" name="Rectangle 2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6512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636</cp:revision>
  <dcterms:created xsi:type="dcterms:W3CDTF">2026-04-21T07:55:35Z</dcterms:created>
  <dcterms:modified xsi:type="dcterms:W3CDTF">2026-04-21T11:43:56Z</dcterms:modified>
</cp:coreProperties>
</file>